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YoY Revenue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Apparel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420000</c:v>
                </c:pt>
                <c:pt idx="1">
                  <c:v>510000</c:v>
                </c:pt>
                <c:pt idx="2">
                  <c:v>630000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E0-4D3B-BD79-426D050D35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380000</c:v>
                </c:pt>
                <c:pt idx="1">
                  <c:v>460000</c:v>
                </c:pt>
                <c:pt idx="2">
                  <c:v>590000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E0-4D3B-BD79-426D050D35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Month-over-Month Growth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Growth %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3.4</c:v>
                </c:pt>
                <c:pt idx="2">
                  <c:v>-1.2</c:v>
                </c:pt>
                <c:pt idx="3">
                  <c:v>4.5</c:v>
                </c:pt>
                <c:pt idx="4">
                  <c:v>6.1</c:v>
                </c:pt>
                <c:pt idx="5">
                  <c:v>2.8</c:v>
                </c:pt>
                <c:pt idx="6">
                  <c:v>-0.5</c:v>
                </c:pt>
                <c:pt idx="7">
                  <c:v>3.9</c:v>
                </c:pt>
                <c:pt idx="8">
                  <c:v>5.2</c:v>
                </c:pt>
                <c:pt idx="9">
                  <c:v>8.3000000000000007</c:v>
                </c:pt>
                <c:pt idx="10">
                  <c:v>12.1</c:v>
                </c:pt>
                <c:pt idx="11">
                  <c:v>15.4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FA-44BC-9B8F-BD1065092F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Customer Segment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9-43FD-B49C-889AA8B33743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9-43FD-B49C-889AA8B33743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F9-43FD-B49C-889AA8B3374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F9-43FD-B49C-889AA8B3374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F9-43FD-B49C-889AA8B3374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F9-43FD-B49C-889AA8B3374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Champions</c:v>
                </c:pt>
                <c:pt idx="1">
                  <c:v>Regular</c:v>
                </c:pt>
                <c:pt idx="2">
                  <c:v>At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55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F9-43FD-B49C-889AA8B33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Net Revenue by Discount Tier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51-4C9E-B439-10FD65F8C8F0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51-4C9E-B439-10FD65F8C8F0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51-4C9E-B439-10FD65F8C8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Full Price</c:v>
                </c:pt>
                <c:pt idx="1">
                  <c:v>Small Discount</c:v>
                </c:pt>
                <c:pt idx="2">
                  <c:v>Deep Discount &gt;15%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1850000</c:v>
                </c:pt>
                <c:pt idx="1">
                  <c:v>1230000</c:v>
                </c:pt>
                <c:pt idx="2">
                  <c:v>640000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51-4C9E-B439-10FD65F8C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Units Sold by Pricing Strategy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06-4F8A-97CF-B3E6B9BB73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306-4F8A-97CF-B3E6B9BB73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306-4F8A-97CF-B3E6B9BB73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Full Price</c:v>
                </c:pt>
                <c:pt idx="1">
                  <c:v>Small Discount</c:v>
                </c:pt>
                <c:pt idx="2">
                  <c:v>Deep &gt;15%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18500</c:v>
                </c:pt>
                <c:pt idx="1">
                  <c:v>14200</c:v>
                </c:pt>
                <c:pt idx="2">
                  <c:v>9800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06-4F8A-97CF-B3E6B9BB73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CLV by Acquisition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CLV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Referral</c:v>
                </c:pt>
                <c:pt idx="1">
                  <c:v>Organic</c:v>
                </c:pt>
                <c:pt idx="2">
                  <c:v>Social Media</c:v>
                </c:pt>
                <c:pt idx="3">
                  <c:v>Google Ads</c:v>
                </c:pt>
                <c:pt idx="4">
                  <c:v>Email</c:v>
                </c:pt>
                <c:pt idx="5">
                  <c:v>Paid Ads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4850</c:v>
                </c:pt>
                <c:pt idx="1">
                  <c:v>4200</c:v>
                </c:pt>
                <c:pt idx="2">
                  <c:v>3780</c:v>
                </c:pt>
                <c:pt idx="3">
                  <c:v>3500</c:v>
                </c:pt>
                <c:pt idx="4">
                  <c:v>3200</c:v>
                </c:pt>
                <c:pt idx="5">
                  <c:v>2950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B-4937-BA9D-908C05DF54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8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</a:rPr>
              <a:t>JAYPEE INSTITUTE OF INFORMATION TECHNOLOGY, NOIDA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Dept. of Computer Applications  ·  MS in Data &amp; Business Analytics  ·  2026–27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E-Commerce Business Intelligence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2D3EE"/>
                </a:solidFill>
              </a:rPr>
              <a:t>&amp; Customer Analytics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743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Data Management Using SQL  ·  MySQL Workbench  ·  40,000+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461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40,000+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Records Processed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32461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231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Dimension Tables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32461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15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Analytical Queries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32461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5,000+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Customers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Suhani Singh  |  Enrollment: 992509260001  |  2nd Semester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Project Overview &amp; Problem Statement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733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Database Architecture &amp; Star Schema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ER Diagram &amp; Table Relationships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SQL Techniques &amp; Functions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044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0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Revenue Analytics: YoY &amp; MoM Growth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6052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2336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Customer Segmentation: RFM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9601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96012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960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1033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Market Basket &amp; Behavioral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16002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160020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16733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Profitability &amp; Discount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2240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224028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240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Geographic &amp; Operational Intelligence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8803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88036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29535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Dashboard Visualization Overview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35204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37760" y="352044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520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Key Findings &amp; Business Insights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41605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37760" y="416052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0" y="42336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Conclusion &amp; Future Scope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56616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Modern e-commerce generates massive volumes of transactional and behavioral data. Efficient storage and SQL-driven analysis helps businesses understand customer behavior, identify market trends, and improve strategic decision-making.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This project builds a complete Relational Database System and executes 15 advanced analytical SQL queries on real-world simulated e-commerce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56616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06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Are aggressive discounts eroding profit margins?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Which geographic locations are viable for physical store expansion?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How can we prevent high-value (VIP) customer churn?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00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Which acquisition channels bring the highest lifetime value customers?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79476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What product pairs are most frequently bought together?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DATABASE ARCHITECTURE — STAR SCHEMA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07898" y="1984600"/>
            <a:ext cx="228600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920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ORDER_ITEMS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(Fact Table)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order_id, customer_id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date_key, 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547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product_id, category_id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brand, unit_price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92024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customer_id, city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segment, channel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547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category_id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parent_category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502920"/>
            <a:ext cx="21031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576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DIMENSION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date_key,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month, quarter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24688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560320" y="374904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715000" y="24688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715000" y="374904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1645921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Star Schema ensures query performance and data integrity through Foreign Key constraints across all dimension tables.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SQL TECHNIQUES &amp; FUNCTIONS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0525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Common Table Expressions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34416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WITH clause for readable sub-queries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78308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Used in RFM, YoY, MoM, Basket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222199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Enables multi-step logic without nesting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2651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90525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Window Functions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34416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RANK() — Peak season by category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64408" y="178308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LAG() — MoM/velocity 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64408" y="222199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NTILE(5) — RFM quintile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68680"/>
            <a:ext cx="26517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90525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Aggregate Functions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34416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SUM(), COUNT(), AVG() — Revenue KPIs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44768" y="178308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ROUND() — Formatted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44768" y="222199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HAVING — Filtered group conditions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0360"/>
            <a:ext cx="2651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91693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Joins &amp; Self-Joins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35584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INNER JOIN across 5+ tables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379476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Self-Join on Order_Items for basket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23367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USING shorthand for FK joins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288036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880360"/>
            <a:ext cx="265176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291693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Conditional Logic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35584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CASE WHEN — Discount tiers, RFM labels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379476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Nested CASE for pricing strategy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64408" y="423367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COALESCE for NULL handling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880360"/>
            <a:ext cx="26517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2880360"/>
            <a:ext cx="26517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2916936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Subqueries &amp; Filtering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44768" y="3355848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ROW_NUMBER() for 2nd purchase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44768" y="3794760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PARTITION BY for group windows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4233672"/>
            <a:ext cx="2432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▸  STR_TO_DATE() for data conversion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REVENUE ANALYTICS — YoY &amp; MoM GROWTH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0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SQL — YoY Revenue (CTE + Window)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1207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388059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Yearly_Sales AS (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56911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d.year, c.parent_category,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75016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SUM(o.total_order_amount) rev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931213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 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1122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Date_Dimension d 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29331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o.order_status = 'Completed'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47436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1, 2)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65541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year, parent_category,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836469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category_revenue,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0175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SUM(rev) OVER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198571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year) total_rev,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37962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(rev / SUM(rev) OVER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56067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year)) * 100 mkt_share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74172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Yearly_Sales;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663440" y="82296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4663440" y="3520440"/>
          <a:ext cx="4206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274320" y="4206240"/>
            <a:ext cx="411480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4233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11480" y="44531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November–December show peak MoM growth (12–15%), confirming holiday season impact. YoY revenue grows consistently across all parent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CUSTOMER SEGMENTATION — RFM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5603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896112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8961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How recently did the customer buy?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5603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0" y="896112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961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Frequency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How often do they purchase?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804672"/>
            <a:ext cx="25603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896112"/>
            <a:ext cx="731520" cy="7315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8961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Monetary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How much do they spend in total?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23744"/>
            <a:ext cx="4389120" cy="2514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14600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RFM_Base AS (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2677363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customer_id,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2840126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MAX(date_key) as last_order,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002890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COUNT(order_id) as freq,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165653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SUM(total_order_amount) as mon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328416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3491179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order_status = 'Completed'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653942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1),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816706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RFM_Scores AS (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979469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142232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NTILE(5) OVER(ORDER BY last_order) r,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304995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NTILE(5) OVER(ORDER BY freq) f,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446775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NTILE(5) OVER(ORDER BY mon) 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630522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RFM_Base)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4793285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CASE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95604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r&gt;=4 AND f&gt;=4 THEN 'Champions'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5118811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r&lt;=2 THEN 'At Risk'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5281574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'Regular' END AS Segment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544433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RFM_Scores;</a:t>
            </a:r>
            <a:endParaRPr lang="en-US" sz="8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4937760" y="2423160"/>
          <a:ext cx="39319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MARKET BASKET &amp; BEHAVIORAL VELOCITY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42316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 Basket Analysis (Self-Join)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Technique: Self-JOIN on Order_Items using oi1.order_id = oi2.order_id AND oi1.product_id &lt; oi2.product_id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Goal: Find most common product pairs bought together for bundling opportunities.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023360" cy="256032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5856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Running Shoes + Sports Socks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20440" y="22585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87x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4023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32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Laptop + Laptop Bag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0440" y="25328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74x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023360" cy="256032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072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Mobile Phone + Phone Case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28072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68x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023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815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Winter Jacket + Gloves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30815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55x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2423160"/>
          </a:xfrm>
          <a:prstGeom prst="rect">
            <a:avLst/>
          </a:prstGeom>
          <a:solidFill>
            <a:srgbClr val="F0F9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Behavioral Velocity (Time-to-2nd Purchase)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234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Window Function: LAG(date_key) OVER (PARTITION BY customer_id ORDER BY date_key)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Filtered to ROW_NUMBER() = 2 to isolate the gap between 1st and 2nd purchase.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286000"/>
            <a:ext cx="34747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2304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Avg. Days to Return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5420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~21 Days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8595360" cy="150876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2900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472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Season by Category — RANK() Window Function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22192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Apparel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October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21408" y="3822192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167128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Electronics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67128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67128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November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85616" y="3822192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31336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Winter Wear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31336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31336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December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49824" y="3822192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95544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Summer Wear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95544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95544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April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14032" y="3822192"/>
            <a:ext cx="1463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159752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Footwear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59752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Peak: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159752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September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PROFITABILITY &amp; DISCOUNT ANALYSIS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804672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0" y="804672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3520440"/>
            <a:ext cx="2011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274320" y="3520440"/>
            <a:ext cx="20116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47472" y="3520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Price Orders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47472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65% of Revenue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450592" y="3520440"/>
            <a:ext cx="2011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450592" y="3520440"/>
            <a:ext cx="20116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23744" y="3520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Discount Revenue Loss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523744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~$1.2M vs Full Price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26864" y="3520440"/>
            <a:ext cx="2011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26864" y="3520440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0016" y="3520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Holiday Avg. Order Value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00016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+18% vs Non-Holiday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03136" y="3520440"/>
            <a:ext cx="2011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03136" y="3520440"/>
            <a:ext cx="201168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76288" y="3520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Discount Strategy Finding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876288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High discounts do NOT increase volume enough to compensate for margin loss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GEOGRAPHIC &amp; OPERATIONAL INTELLIGENCE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822960"/>
            <a:ext cx="4297680" cy="2377440"/>
          </a:xfrm>
          <a:prstGeom prst="rect">
            <a:avLst/>
          </a:prstGeom>
          <a:solidFill>
            <a:srgbClr val="F0F9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3440" y="850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5 Cities — Store Expansion (Avg. Rev/Customer)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1234440"/>
            <a:ext cx="4206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0644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49440" y="12801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45552" y="12801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Rev/Customer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1581912"/>
            <a:ext cx="4206240" cy="329184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Bangalore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0644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Karnataka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16276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312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45552" y="162763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$5,420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17720" y="192938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1975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Hyderabad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06440" y="1975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Telangana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49440" y="19751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287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45552" y="1975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$5,180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17720" y="2276856"/>
            <a:ext cx="4206240" cy="329184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Mumbai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06440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Maharashtra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49440" y="232257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445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845552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$4,960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17720" y="262432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2670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Pune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806440" y="2670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Maharashtra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949440" y="26700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198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845552" y="267004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$4,720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17720" y="2971800"/>
            <a:ext cx="4206240" cy="329184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Chennai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80644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Tamil Nadu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949440" y="3017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234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845552" y="30175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$4,510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35584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 Rate by Brand — Brand Reputation &amp; Loyalty Analysis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02920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Puma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02920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8.2%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502920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1847088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1892808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Nike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892808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9.5%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892808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236976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3282696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Adidas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3282696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11.3%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3282696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4626864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4672584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Samsung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672584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12.8%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4672584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6016752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062472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OnePlus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062472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16.4%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6062472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7406640" y="37490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7452360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Zara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7452360" y="40965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18.9%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7452360" y="448056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return rate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DASHBOARD &amp; VISUALIZATION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Power BI Dashboard built from MySQL-exported data across 6 analytical pages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361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 Revenue, Orders, AOV, Profit Margin KPI cards + MoM trend 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7764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Customer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5361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RFM segmentation map, CLV by channel, VIP churn heatmap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63347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Product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5361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Category revenue treemap, brand loyalty scores, return rate comparison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63347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2608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3063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Revenue Trends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4564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YoY line charts, seasonal bar charts, holiday vs. non-holiday comparison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92608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977640" y="3063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Basket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34564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Product pair frequency table, bundling opportunity matrix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455371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92608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3063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Geographic Expansion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45643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City-level revenue map, avg. spend per customer bubble chart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4553712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ALL 15 ANALYTICAL QUERIES —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8321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YoY Revenue &amp; Market Share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0" y="832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 + SUM OVER PARTITION BY year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83564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83564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018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1109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RFM Segmentation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111099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 + NTILE(5) window function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62456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62456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8074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138988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Behavioral Velocity (2nd purchase)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138988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 + ROW_NUMBER() OVER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641348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641348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5963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166878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Market Basket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0" y="166878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Self-JOIN on Order_Items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920240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9385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194767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Month-over-Month Growth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19476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 OVER with ORDER BY year, month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99132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199132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21742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22265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Discount Impact (quick)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222656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 &gt; 15% threshold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478024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478024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4963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25054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Peak Season by Category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0" y="250545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PARTITION BY category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756916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756916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77520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" y="27843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CLV by Acquisition Channel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0" y="278434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+ SUM / COUNT DISTINCT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035808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035808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05409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8680" y="306324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At-Risk VIP Churn Detection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0" y="306324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MAX(date) &lt; threshold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314700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314700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33298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68680" y="33421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Return Rate by Brand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0" y="33421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CASE WHEN + HAVING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593592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3593592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61188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8680" y="36210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Geographic Expansion (Top Cities)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114800" y="362102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shorthand + HAVING + LIMIT 10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3872484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3872484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8907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68680" y="38999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Holiday vs. Non-Holiday Performance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0" y="389991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Date_Dimension + GROUP BY is_holiday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151376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4151376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1696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68680" y="417880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Discount Profitability (3-tier)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114800" y="417880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3-level CASE WHEN pricing strategy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430268"/>
            <a:ext cx="8595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4430268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4485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Q14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68680" y="44577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Return Rate by Category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114800" y="445770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WHEN) + ROUND percent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4709160"/>
            <a:ext cx="859536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4709160"/>
            <a:ext cx="502920" cy="2651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7274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Q15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68680" y="47365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Brand Loyalty Score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114800" y="47365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ROUND(orders/customers) ratio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KEY FINDINGS &amp; BUSINESS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144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914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Holiday Season Drives 28% of Annual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November–December show 12–15% MoM spikes. Marketing budgets should be front-loaded for Q4 campaigns.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91440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04688" y="914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Discounts Hurt Profitability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04688" y="1371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Orders with &gt;15% discount generate 65% less net revenue than full-price orders while volume increase is only marginal.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3774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Referral Channel = Highest CLV ($4,850)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834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Referral customers spend 64% more over their lifetime vs. Paid Ads. Invest in referral programs over ad spend.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23774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04688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22% of Customers Are Champions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2834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RFM model identified 22% Champions (high R, F, M). Personalized retention campaigns can prevent churn in this segment.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8404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Bangalore &amp; Hyderabad — Top Expansion Cities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297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Avg. revenue per customer exceeds $5,000 in these cities with 250+ active customers — prime candidates for stores.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749040"/>
            <a:ext cx="4206240" cy="1353312"/>
          </a:xfrm>
          <a:prstGeom prst="rect">
            <a:avLst/>
          </a:prstGeom>
          <a:solidFill>
            <a:srgbClr val="1E3A5F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3840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Laptop + Laptop Bag = Top Product Pair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4297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87 co-purchases identified. Bundling top pairs can increase AOV by an estimated 12–18% based on basket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This project successfully transformed 40,000+ raw e-commerce records into a scalable Business Intelligence System. By implementing advanced SQL techniques—CTEs, Window Functions, Self-Joins, and RFM modeling—it delivers a 360° view of sales performance.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The solution moves the business from manual tracking to strategic, data-driven operations enabling faster, more informed decisions.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</a:rPr>
              <a:t>40K+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Records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3474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Tables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Suhani Singh  ·  992509260001  ·  JIIT Noida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22D3EE"/>
                </a:solidFill>
              </a:rPr>
              <a:t>FUTURE SCOPE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76672" y="1005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ML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1280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Predictive churn models using RFM scores as features in Python sklearn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764792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8105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76672" y="1810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Real-Time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76672" y="2084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Apache Kafka + Apache Spark for live streaming transaction processing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9464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61518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76672" y="2615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Cloud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28895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Migrate to AWS RDS or Google BigQuery for enterprise-scale analytics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374136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4198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76672" y="3419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Mobile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36941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Power BI mobile app for executive-level on-the-go decision making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4178808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422452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76672" y="4224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API 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498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Connect to live e-commerce platforms (Shopify, WooCommerce) via REST APIs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B4F1C7-4166-0E3D-ADC6-BF542D9B68A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Thank You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51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1775</Words>
  <Application>Microsoft Office PowerPoint</Application>
  <PresentationFormat>On-screen Show (16:9)</PresentationFormat>
  <Paragraphs>373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Business Intelligence &amp; Customer Analytics</dc:title>
  <dc:subject>PptxGenJS Presentation</dc:subject>
  <dc:creator>Suhani Singh</dc:creator>
  <cp:lastModifiedBy>suhani singh</cp:lastModifiedBy>
  <cp:revision>2</cp:revision>
  <dcterms:created xsi:type="dcterms:W3CDTF">2026-05-05T06:09:13Z</dcterms:created>
  <dcterms:modified xsi:type="dcterms:W3CDTF">2026-05-05T06:28:44Z</dcterms:modified>
</cp:coreProperties>
</file>